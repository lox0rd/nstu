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2.xml" ContentType="application/vnd.ms-office.chart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style1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200" b="1" u="none" strike="noStrike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/>
              </a:rPr>
              <a:t>Опрос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Опрос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472C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D7D31"/>
              </a:solidFill>
              <a:ln w="0">
                <a:noFill/>
              </a:ln>
            </c:spPr>
          </c:dPt>
          <c:dPt>
            <c:idx val="2"/>
            <c:spPr>
              <a:solidFill>
                <a:srgbClr val="A5A5A5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FC000"/>
              </a:solidFill>
              <a:ln w="0">
                <a:noFill/>
              </a:ln>
            </c:spPr>
          </c:dPt>
          <c:dLbls>
            <c:dLbl>
              <c:idx val="0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spPr>
              <a:solidFill>
                <a:srgbClr val="595959"/>
              </a:solidFill>
            </c:spPr>
            <c:txPr>
              <a:bodyPr wrap="square"/>
              <a:lstStyle/>
              <a:p>
                <a:pPr>
                  <a:defRPr sz="133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eparator>
</c:separator>
            <c:showLeaderLines val="1"/>
            <c:leaderLines>
              <c:spPr>
                <a:ln w="0">
                  <a:solidFill>
                    <a:srgbClr val="808080"/>
                  </a:solidFill>
                </a:ln>
              </c:spPr>
            </c:leaderLines>
          </c:dLbls>
          <c:cat>
            <c:strRef>
              <c:f>categories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58</c:v>
                </c:pt>
                <c:pt idx="1">
                  <c:v>32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gradFill>
      <a:gsLst>
        <a:gs pos="0">
          <a:srgbClr val="FFFFFF"/>
        </a:gs>
        <a:gs pos="39000">
          <a:srgbClr val="FFFFFF"/>
        </a:gs>
        <a:gs pos="100000">
          <a:srgbClr val="BFBFBF"/>
        </a:gs>
      </a:gsLst>
      <a:path path="circle">
        <a:fillToRect l="50000" t="0" r="50000" b="100000"/>
      </a:path>
    </a:gradFill>
    <a:ln w="9360">
      <a:solidFill>
        <a:srgbClr val="BFBFBF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200" b="1" u="none" strike="noStrike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/>
              </a:rPr>
              <a:t>Опрос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Опрос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472C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D7D31"/>
              </a:solidFill>
              <a:ln w="0">
                <a:noFill/>
              </a:ln>
            </c:spPr>
          </c:dPt>
          <c:dPt>
            <c:idx val="2"/>
            <c:spPr>
              <a:solidFill>
                <a:srgbClr val="A5A5A5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FC000"/>
              </a:solidFill>
              <a:ln w="0">
                <a:noFill/>
              </a:ln>
            </c:spPr>
          </c:dPt>
          <c:dPt>
            <c:idx val="4"/>
            <c:spPr>
              <a:solidFill>
                <a:srgbClr val="5B9BD5"/>
              </a:solidFill>
              <a:ln w="0">
                <a:noFill/>
              </a:ln>
            </c:spPr>
          </c:dPt>
          <c:dLbls>
            <c:dLbl>
              <c:idx val="0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spPr>
              <a:solidFill>
                <a:srgbClr val="595959"/>
              </a:solidFill>
            </c:spPr>
            <c:txPr>
              <a:bodyPr wrap="square"/>
              <a:lstStyle/>
              <a:p>
                <a:pPr>
                  <a:defRPr sz="133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eparator>
</c:separator>
            <c:showLeaderLines val="1"/>
            <c:leaderLines>
              <c:spPr>
                <a:ln w="0">
                  <a:solidFill>
                    <a:srgbClr val="808080"/>
                  </a:solidFill>
                </a:ln>
              </c:spPr>
            </c:leaderLines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81</c:v>
                </c:pt>
                <c:pt idx="1">
                  <c:v>65</c:v>
                </c:pt>
                <c:pt idx="2">
                  <c:v>54</c:v>
                </c:pt>
                <c:pt idx="3">
                  <c:v>48</c:v>
                </c:pt>
                <c:pt idx="4">
                  <c:v>42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gradFill>
      <a:gsLst>
        <a:gs pos="0">
          <a:srgbClr val="FFFFFF"/>
        </a:gs>
        <a:gs pos="39000">
          <a:srgbClr val="FFFFFF"/>
        </a:gs>
        <a:gs pos="100000">
          <a:srgbClr val="BFBFBF"/>
        </a:gs>
      </a:gsLst>
      <a:path path="circle">
        <a:fillToRect l="50000" t="0" r="50000" b="100000"/>
      </a:path>
    </a:gradFill>
    <a:ln w="9360">
      <a:solidFill>
        <a:srgbClr val="BFBFBF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200" b="1" u="none" strike="noStrike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Calibri"/>
              </a:rPr>
              <a:t>Опрос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Опрос</c:v>
                </c:pt>
              </c:strCache>
            </c:strRef>
          </c:tx>
          <c:spPr>
            <a:solidFill>
              <a:srgbClr val="4472C4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4472C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ED7D31"/>
              </a:solidFill>
              <a:ln w="0">
                <a:noFill/>
              </a:ln>
            </c:spPr>
          </c:dPt>
          <c:dPt>
            <c:idx val="2"/>
            <c:spPr>
              <a:solidFill>
                <a:srgbClr val="A5A5A5"/>
              </a:solidFill>
              <a:ln w="0">
                <a:noFill/>
              </a:ln>
            </c:spPr>
          </c:dPt>
          <c:dPt>
            <c:idx val="3"/>
            <c:spPr>
              <a:solidFill>
                <a:srgbClr val="FFC000"/>
              </a:solidFill>
              <a:ln w="0">
                <a:noFill/>
              </a:ln>
            </c:spPr>
          </c:dPt>
          <c:dPt>
            <c:idx val="4"/>
            <c:spPr>
              <a:solidFill>
                <a:srgbClr val="5B9BD5"/>
              </a:solidFill>
              <a:ln w="0">
                <a:noFill/>
              </a:ln>
            </c:spPr>
          </c:dPt>
          <c:dLbls>
            <c:dLbl>
              <c:idx val="0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spPr>
                <a:solidFill>
                  <a:srgbClr val="595959"/>
                </a:solidFill>
              </c:spPr>
              <c:txPr>
                <a:bodyPr wrap="square"/>
                <a:lstStyle/>
                <a:p>
                  <a:pPr>
                    <a:defRPr sz="1330" b="1" u="none" strike="noStrik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spPr>
              <a:solidFill>
                <a:srgbClr val="595959"/>
              </a:solidFill>
            </c:spPr>
            <c:txPr>
              <a:bodyPr wrap="square"/>
              <a:lstStyle/>
              <a:p>
                <a:pPr>
                  <a:defRPr sz="133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1"/>
            <c:separator>
</c:separator>
            <c:showLeaderLines val="1"/>
            <c:leaderLines>
              <c:spPr>
                <a:ln w="0">
                  <a:solidFill>
                    <a:srgbClr val="808080"/>
                  </a:solidFill>
                </a:ln>
              </c:spPr>
            </c:leaderLines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/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gradFill>
      <a:gsLst>
        <a:gs pos="0">
          <a:srgbClr val="FFFFFF"/>
        </a:gs>
        <a:gs pos="39000">
          <a:srgbClr val="FFFFFF"/>
        </a:gs>
        <a:gs pos="100000">
          <a:srgbClr val="BFBFBF"/>
        </a:gs>
      </a:gsLst>
      <a:path path="circle">
        <a:fillToRect l="50000" t="0" r="50000" b="100000"/>
      </a:path>
    </a:gradFill>
    <a:ln w="9360">
      <a:solidFill>
        <a:srgbClr val="BFBFBF"/>
      </a:solidFill>
      <a:round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D8FB7F-AEB4-4573-B7B3-3A15907786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FCA153-D5F3-4227-8D4F-65E5A996D0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C8859C-97D4-4EC9-8F46-98D9117F8F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ABBDFCB-909B-400A-A8AA-0031A04F2E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5ADF1DB-2BF1-4E20-9A28-EA1EBA5908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36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45D754-C29C-45C7-AFA0-2A934A3EED3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C5C0C-1CCC-420F-99D3-9970115AE87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5680" y="365040"/>
            <a:ext cx="26290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460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9C332-D6D4-41AE-B846-0FDCE09AFBB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0CC503-962F-464D-9577-8C04BDD0DA1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632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63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6AC11-3265-4F82-A48F-DF1F147ECA3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4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172560" y="1825560"/>
            <a:ext cx="51814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68E459-D022-4624-B70F-F28D6871442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7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7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172560" y="1681200"/>
            <a:ext cx="518328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172560" y="2505240"/>
            <a:ext cx="518328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8"/>
          <p:cNvSpPr>
            <a:spLocks noGrp="1"/>
          </p:cNvSpPr>
          <p:nvPr>
            <p:ph type="sldNum" idx="21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2C8373-11B4-4B8C-8468-653CABBED8B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4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BC6F06-087D-4683-BFDF-345A6989046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7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7E39E9-B190-4401-A1F0-9FF03485570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256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0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BF0F3-B5A6-460C-91AC-B44AF14933A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256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3"/>
          </p:nvPr>
        </p:nvSpPr>
        <p:spPr>
          <a:xfrm>
            <a:off x="8611200" y="6356520"/>
            <a:ext cx="2743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2939F8-FF5A-4B4F-BE4E-3FB6C3A8EED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440000" y="540000"/>
            <a:ext cx="937980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80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Вещи в доме напротив(соседи)</a:t>
            </a:r>
            <a:endParaRPr lang="ru-RU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0360" y="27662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содержание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120000" y="180000"/>
            <a:ext cx="10516320" cy="648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Команда проекта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Проблема, решение и Гипотеза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Результаты опроса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Целевая аудитория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Цель проекта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Анализ аналогов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Идея, описание и цель проекта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Универсальный визайн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Задачи и ресурсы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План реализации, бюджет и риски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Пример работы приложения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Прямоугольник 3"/>
          <p:cNvSpPr/>
          <p:nvPr/>
        </p:nvSpPr>
        <p:spPr>
          <a:xfrm>
            <a:off x="5884920" y="180000"/>
            <a:ext cx="235080" cy="630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Прямоугольник 14"/>
          <p:cNvSpPr/>
          <p:nvPr/>
        </p:nvSpPr>
        <p:spPr>
          <a:xfrm>
            <a:off x="0" y="-124560"/>
            <a:ext cx="12261960" cy="7481160"/>
          </a:xfrm>
          <a:prstGeom prst="rect">
            <a:avLst/>
          </a:prstGeom>
          <a:solidFill>
            <a:schemeClr val="lt2">
              <a:lumMod val="25000"/>
            </a:schemeClr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708040" y="4664160"/>
            <a:ext cx="31100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Команда проекта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9" name="Google Shape;100;p15"/>
          <p:cNvSpPr/>
          <p:nvPr/>
        </p:nvSpPr>
        <p:spPr>
          <a:xfrm>
            <a:off x="-10800" y="0"/>
            <a:ext cx="3859560" cy="32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Google Shape;100;p15"/>
          <p:cNvSpPr/>
          <p:nvPr/>
        </p:nvSpPr>
        <p:spPr>
          <a:xfrm>
            <a:off x="4166640" y="0"/>
            <a:ext cx="3859560" cy="328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Google Shape;100;p15"/>
          <p:cNvSpPr/>
          <p:nvPr/>
        </p:nvSpPr>
        <p:spPr>
          <a:xfrm>
            <a:off x="8333280" y="0"/>
            <a:ext cx="3859560" cy="3285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Google Shape;100;p15"/>
          <p:cNvSpPr/>
          <p:nvPr/>
        </p:nvSpPr>
        <p:spPr>
          <a:xfrm>
            <a:off x="0" y="3572640"/>
            <a:ext cx="3859560" cy="328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4"/>
          <p:cNvSpPr/>
          <p:nvPr/>
        </p:nvSpPr>
        <p:spPr>
          <a:xfrm>
            <a:off x="111960" y="1642680"/>
            <a:ext cx="2190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Цыренов Эрдэм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АВТ - 513</a:t>
            </a:r>
            <a:br>
              <a:rPr sz="1800"/>
            </a:br>
            <a:br>
              <a:rPr sz="1800"/>
            </a:b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Мотиватор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50040" y="5326920"/>
            <a:ext cx="2190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Мухин Лев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АВТ - 553</a:t>
            </a:r>
            <a:br>
              <a:rPr sz="1800"/>
            </a:br>
            <a:br>
              <a:rPr sz="1800"/>
            </a:b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Руководитель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4155840" y="1628640"/>
            <a:ext cx="2190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Бабушеев Артур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АВТ - 553</a:t>
            </a:r>
            <a:br>
              <a:rPr sz="1800"/>
            </a:br>
            <a:br>
              <a:rPr sz="1800"/>
            </a:b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Вдохновитель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8343720" y="1642680"/>
            <a:ext cx="21902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Торопов Денис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АВТ - 514</a:t>
            </a:r>
            <a:br>
              <a:rPr sz="1800"/>
            </a:br>
            <a:br>
              <a:rPr sz="1800"/>
            </a:b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Контроллер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Проблема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214164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Наш пользователь, житель многоквартирного дома, хочет купить какую либо вещь, но не может, потому что ему нужно найти товар быстро и не далеко от дома, а существующие приложения для продаже не позволяют эфективно отобразить товары в доме, где живёт покупатель, а также в короткие сроки избавить от ненужной вещи продавца.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Решение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214164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жителей многоквартирных домов наше приложение, будет помогать быстро и эффективно осуществить покупку/продажу/обмен, и в отличие от альтернативных приложений - досок объявлений будет иметь удобный поиск, позволяющий отобразить только товары, расположенные в домах, отмечанных покупателем, а также обсуждать насущные темы жителей.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Гипотеза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Пользователи будут регулярно (не реже 3 раз в неделю) заходить в приложение, если в нём есть актуальные чаты и локальные объявления.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Результаты опроса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125600" cy="97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1. Насколько вам интересна идея такого приложения?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5" name="Диаграмма 6"/>
          <p:cNvGraphicFramePr/>
          <p:nvPr/>
        </p:nvGraphicFramePr>
        <p:xfrm>
          <a:off x="6096240" y="286560"/>
          <a:ext cx="5602680" cy="372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TextBox 8"/>
          <p:cNvSpPr/>
          <p:nvPr/>
        </p:nvSpPr>
        <p:spPr>
          <a:xfrm>
            <a:off x="700200" y="4009680"/>
            <a:ext cx="613980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Очень интересна, буду пользоваться: 58%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Скорее интересна, попробую: 32%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Мне все равно: 6%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Не интересна, не буду пользоваться: 4%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Результаты опроса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125600" cy="97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2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2. Какими функциями вы бы пользовались чаще всего? (можно было выбрать несколько вариантов)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9" name="Диаграмма 6"/>
          <p:cNvGraphicFramePr/>
          <p:nvPr/>
        </p:nvGraphicFramePr>
        <p:xfrm>
          <a:off x="6350400" y="183600"/>
          <a:ext cx="5261400" cy="34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0" name="TextBox 8"/>
          <p:cNvSpPr/>
          <p:nvPr/>
        </p:nvSpPr>
        <p:spPr>
          <a:xfrm>
            <a:off x="961560" y="4056840"/>
            <a:ext cx="105584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Отдать/обменять ненужные вещи (старая мебель, детские вещи, книги и т.д.): 28%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Общий чат для решения бытовых вопросов (уборка, ремонт, собрание): 22%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Продать что-то за символическую цену: 19%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Предложить/найти услуги (посидеть с ребенком, выгулять собаку, помочь с ремонтом): 17%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Чат экстренной помощи (попросить соль, лекарство): 14%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Результаты опроса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4125600" cy="97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ru-RU" sz="2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3. Что вас беспокоит больше всего в такой идее?</a:t>
            </a:r>
            <a:endParaRPr lang="ru-RU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3" name="Диаграмма 6"/>
          <p:cNvGraphicFramePr/>
          <p:nvPr/>
        </p:nvGraphicFramePr>
        <p:xfrm>
          <a:off x="6350400" y="183600"/>
          <a:ext cx="5261400" cy="34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" name="TextBox 8"/>
          <p:cNvSpPr/>
          <p:nvPr/>
        </p:nvSpPr>
        <p:spPr>
          <a:xfrm>
            <a:off x="796320" y="4125600"/>
            <a:ext cx="833508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Конфиденциальность моих данных (боюсь спама и назойливых соседей): 45%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Возможные конфликты между соседями в чате: 30%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Низкая активность соседей в приложении: 15%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Сложность регистрации и проверки: 10%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Сегмент ЦА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жители многоквартирных домов 25–55 лет (собственники/долгосрочные арендаторы);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Основные сегменты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Практики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(40 %) — ищут бытовые услуги, покупают/продают б/у‑вещи.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Социально ориентированные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(30 %) — хотят знать соседей, участвуют в мероприятиях.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Экономные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(20 %) — ищут скидки на услуги и локальные товары.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Новосёлы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(10 %) — адаптируются, ищут локальные сервисы.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Прямоугольник 3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Цель проекта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20360" y="244908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Разработать приложение, позволяющие жителям домов не выкидывать вещи, которые ещё могут кому то пригодиться, а выставлять их бесплатно\обмен\продажа на нашей платформе.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3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Приложение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12" name="Объект 6"/>
          <p:cNvPicPr/>
          <p:nvPr/>
        </p:nvPicPr>
        <p:blipFill>
          <a:blip r:embed="rId1"/>
          <a:stretch/>
        </p:blipFill>
        <p:spPr>
          <a:xfrm>
            <a:off x="6292440" y="1912320"/>
            <a:ext cx="2215080" cy="467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Рисунок 8"/>
          <p:cNvPicPr/>
          <p:nvPr/>
        </p:nvPicPr>
        <p:blipFill>
          <a:blip r:embed="rId2"/>
          <a:stretch/>
        </p:blipFill>
        <p:spPr>
          <a:xfrm>
            <a:off x="9205560" y="1959840"/>
            <a:ext cx="2219400" cy="468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Рисунок 10"/>
          <p:cNvPicPr/>
          <p:nvPr/>
        </p:nvPicPr>
        <p:blipFill>
          <a:blip r:embed="rId3"/>
          <a:stretch/>
        </p:blipFill>
        <p:spPr>
          <a:xfrm>
            <a:off x="3379680" y="1902600"/>
            <a:ext cx="2215080" cy="467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Рисунок 12"/>
          <p:cNvPicPr/>
          <p:nvPr/>
        </p:nvPicPr>
        <p:blipFill>
          <a:blip r:embed="rId4"/>
          <a:stretch/>
        </p:blipFill>
        <p:spPr>
          <a:xfrm>
            <a:off x="697680" y="1902600"/>
            <a:ext cx="2215080" cy="467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Прямоугольник 10"/>
          <p:cNvSpPr/>
          <p:nvPr/>
        </p:nvSpPr>
        <p:spPr>
          <a:xfrm>
            <a:off x="5763600" y="3780000"/>
            <a:ext cx="5576400" cy="2350440"/>
          </a:xfrm>
          <a:prstGeom prst="rect">
            <a:avLst/>
          </a:prstGeom>
          <a:solidFill>
            <a:schemeClr val="dk2">
              <a:lumMod val="75000"/>
            </a:schemeClr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Прямоугольник 3"/>
          <p:cNvSpPr/>
          <p:nvPr/>
        </p:nvSpPr>
        <p:spPr>
          <a:xfrm>
            <a:off x="5830920" y="1167120"/>
            <a:ext cx="5576400" cy="2350440"/>
          </a:xfrm>
          <a:prstGeom prst="rect">
            <a:avLst/>
          </a:prstGeom>
          <a:solidFill>
            <a:schemeClr val="dk2">
              <a:lumMod val="75000"/>
            </a:schemeClr>
          </a:solidFill>
          <a:ln w="12600">
            <a:solidFill>
              <a:schemeClr val="accen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43680" y="4788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Анализ аналогов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317600" y="2091600"/>
            <a:ext cx="3063960" cy="299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Наш продукт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Удобный поиск товаров, благодаря разделению домов на разные точки обмена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/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продажи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Рисунок 4"/>
          <p:cNvPicPr/>
          <p:nvPr/>
        </p:nvPicPr>
        <p:blipFill>
          <a:blip r:embed="rId1"/>
          <a:stretch/>
        </p:blipFill>
        <p:spPr>
          <a:xfrm>
            <a:off x="6185160" y="3999960"/>
            <a:ext cx="1831320" cy="184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Рисунок 6"/>
          <p:cNvPicPr/>
          <p:nvPr/>
        </p:nvPicPr>
        <p:blipFill>
          <a:blip r:embed="rId2"/>
          <a:stretch/>
        </p:blipFill>
        <p:spPr>
          <a:xfrm>
            <a:off x="6091200" y="2034360"/>
            <a:ext cx="2791440" cy="70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7"/>
          <p:cNvSpPr/>
          <p:nvPr/>
        </p:nvSpPr>
        <p:spPr>
          <a:xfrm>
            <a:off x="9000000" y="1373040"/>
            <a:ext cx="22579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Преимущества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Удобство поиск товаров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Погружение пользователя в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“</a:t>
            </a: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быт своего дома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”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9070920" y="4298040"/>
            <a:ext cx="20890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Преимущества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: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Удобство интерфейса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Безопасность в продаже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Прямоугольник 12"/>
          <p:cNvSpPr/>
          <p:nvPr/>
        </p:nvSpPr>
        <p:spPr>
          <a:xfrm>
            <a:off x="5468040" y="992160"/>
            <a:ext cx="235080" cy="547236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65800" y="-1245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Идея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6" name="Google Shape;100;p15"/>
          <p:cNvSpPr/>
          <p:nvPr/>
        </p:nvSpPr>
        <p:spPr>
          <a:xfrm>
            <a:off x="1262160" y="1822680"/>
            <a:ext cx="4259160" cy="2497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1325880" y="1822680"/>
            <a:ext cx="4195440" cy="25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Создать приложение в котором будет возможность отслеживать товары, которые выкладывают люди из разных домов. Сортировка по товарам будет происходить путём выборки пользователем домов, которые его интересуют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00;p15"/>
          <p:cNvSpPr/>
          <p:nvPr/>
        </p:nvSpPr>
        <p:spPr>
          <a:xfrm>
            <a:off x="5886000" y="3115800"/>
            <a:ext cx="4259160" cy="2246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6022440" y="3254040"/>
            <a:ext cx="358308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Также в приложении будет реализован чат в котором жители дома будут узнавать самые свежие новости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65800" y="-1245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Описание продукта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492480" y="1248840"/>
            <a:ext cx="6159960" cy="23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Приложение «</a:t>
            </a:r>
            <a:r>
              <a:rPr lang="ru-RU" sz="2800" b="1" u="none" strike="noStrike">
                <a:solidFill>
                  <a:schemeClr val="accent2"/>
                </a:solidFill>
                <a:effectLst/>
                <a:uFillTx/>
                <a:latin typeface="YS Geo"/>
              </a:rPr>
              <a:t>Соседи</a:t>
            </a: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»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Мобильное приложение для жителей многоквартирных домов, объединяющее соседей в едином цифровом пространстве для общения, обмена товарами и услугами.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Прямоугольник 10"/>
          <p:cNvSpPr/>
          <p:nvPr/>
        </p:nvSpPr>
        <p:spPr>
          <a:xfrm>
            <a:off x="6717960" y="1380960"/>
            <a:ext cx="241560" cy="30956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7025760" y="1601280"/>
            <a:ext cx="40363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E7E6E6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Локальные чаты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7E6E6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Доска объявлений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7E6E6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Система доверия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7E6E6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lt2"/>
                </a:solidFill>
                <a:effectLst/>
                <a:uFillTx/>
                <a:latin typeface="Calibri"/>
              </a:rPr>
              <a:t>Информационный центр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Цель проекта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63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OpenSymbol"/>
              <a:buAutoNum type="arabicPeriod"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Объединяет соседей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— через чаты и совместные активности.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OpenSymbol"/>
              <a:buAutoNum type="arabicPeriod"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Упростить быт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— позволяет быстро находить услуги и товары у соседей.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OpenSymbol"/>
              <a:buAutoNum type="arabicPeriod"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Экономия ресурсов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— сокращение затраты на локальные нужды за счёт прямого обмена.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OpenSymbol"/>
              <a:buAutoNum type="arabicPeriod"/>
            </a:pPr>
            <a:r>
              <a:rPr lang="ru-RU" sz="2800" b="1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Обеспечить доверие</a:t>
            </a: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YS Geo"/>
              </a:rPr>
              <a:t> — через верификацию пользователей.</a:t>
            </a:r>
            <a:br>
              <a:rPr sz="2800"/>
            </a:b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Прямоугольник 2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Дизайн для всех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20000" y="1909080"/>
            <a:ext cx="8100360" cy="42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Мобильное приложение «Соседи» соответствует принципам универсального дизайна: интуитивно понятный интерфейс облегчает обмен и продажу вещей, а чат соседей доступен широкому кругу пользователей — включая пожилых людей и людей с ограниченными возможностями. Крупные кнопки, достаточный контраст, простая навигация и минимизация ошибок при взаимодействии делают сервис удобным для всех без дополнительной адаптации.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"/>
          <p:cNvPicPr/>
          <p:nvPr/>
        </p:nvPicPr>
        <p:blipFill>
          <a:blip r:embed="rId1"/>
          <a:stretch/>
        </p:blipFill>
        <p:spPr>
          <a:xfrm>
            <a:off x="9360720" y="1800000"/>
            <a:ext cx="2332440" cy="492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Прямоугольник 7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Задачи и необходимые ресурсы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60000" y="2449080"/>
            <a:ext cx="11833200" cy="42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Для успешной реализации мобильного приложения «Соседи» выделены ключевые задачи. На следующем слайде представлен их перечень и ресурсы, требуемые для выполнения каждой.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"/>
          <p:cNvGraphicFramePr/>
          <p:nvPr/>
        </p:nvGraphicFramePr>
        <p:xfrm>
          <a:off x="757800" y="1075680"/>
          <a:ext cx="11014200" cy="5203800"/>
        </p:xfrm>
        <a:graphic>
          <a:graphicData uri="http://schemas.openxmlformats.org/drawingml/2006/table">
            <a:tbl>
              <a:tblPr/>
              <a:tblGrid>
                <a:gridCol w="5506200"/>
                <a:gridCol w="550836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Задача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Необходимые ресурсы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Исследовать целевую аудиторию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Анкеты и сценарии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Платформы для опросов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Разработать UX/UI‑дизайн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UX/UI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Figma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Создать бэкенд 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Облачные сервисы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Python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SQL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Разработать мобильное приложение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Android Studio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SDK для чата, геолокации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Устройства для тестирования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Протестировать приложение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Тестовые устройства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Группа бета‑тестеров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Запустить в App Store и Google Play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Аккаунты разработчика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Маркетинговые материалы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Бюджет на продвижение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Обеспечить поддержку и обновления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План обновлений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Firebase Analytics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Прямоугольник 13"/>
          <p:cNvSpPr/>
          <p:nvPr/>
        </p:nvSpPr>
        <p:spPr>
          <a:xfrm>
            <a:off x="0" y="0"/>
            <a:ext cx="12240000" cy="162468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План реализации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46" name=""/>
          <p:cNvGraphicFramePr/>
          <p:nvPr/>
        </p:nvGraphicFramePr>
        <p:xfrm>
          <a:off x="330480" y="1801440"/>
          <a:ext cx="11519640" cy="4620600"/>
        </p:xfrm>
        <a:graphic>
          <a:graphicData uri="http://schemas.openxmlformats.org/drawingml/2006/table">
            <a:tbl>
              <a:tblPr/>
              <a:tblGrid>
                <a:gridCol w="1918080"/>
                <a:gridCol w="958680"/>
                <a:gridCol w="958680"/>
                <a:gridCol w="958680"/>
                <a:gridCol w="958680"/>
                <a:gridCol w="1918080"/>
                <a:gridCol w="958680"/>
                <a:gridCol w="958680"/>
                <a:gridCol w="964080"/>
                <a:gridCol w="967680"/>
              </a:tblGrid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Этап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Месяц 1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Месяц 2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Месяц 3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Месяц 4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Месяц 5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Исследование аудитории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Разработка UX/UI‑дизайна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>
                      <a:noFill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428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Создание бэкенда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02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Разработка мобильного приложения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328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Тестирование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8402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Запуск в App Store и Google Play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84024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Техническая поддержка и обновления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   ------------&gt;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Прямоугольник 16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Бюджет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graphicFrame>
        <p:nvGraphicFramePr>
          <p:cNvPr id="149" name=""/>
          <p:cNvGraphicFramePr/>
          <p:nvPr/>
        </p:nvGraphicFramePr>
        <p:xfrm>
          <a:off x="618480" y="2020680"/>
          <a:ext cx="11081160" cy="4458960"/>
        </p:xfrm>
        <a:graphic>
          <a:graphicData uri="http://schemas.openxmlformats.org/drawingml/2006/table">
            <a:tbl>
              <a:tblPr/>
              <a:tblGrid>
                <a:gridCol w="5539680"/>
                <a:gridCol w="5541840"/>
              </a:tblGrid>
              <a:tr h="3747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Статья расходов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Сумма (руб.)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Зарплаты команды 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1 200 000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Облачные сервисы и хостинг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60 000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Лицензии на ПО и инструменты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30 000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Продвижение и маркетинг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150 000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747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Бонусы для участников исследования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20 000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Резерв на непредвиденные расходы (10 % от суммы)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146 000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7620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Итого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1 606 000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Прямоугольник 9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51" name=""/>
          <p:cNvGraphicFramePr/>
          <p:nvPr/>
        </p:nvGraphicFramePr>
        <p:xfrm>
          <a:off x="618480" y="2020680"/>
          <a:ext cx="11081160" cy="3763080"/>
        </p:xfrm>
        <a:graphic>
          <a:graphicData uri="http://schemas.openxmlformats.org/drawingml/2006/table">
            <a:tbl>
              <a:tblPr/>
              <a:tblGrid>
                <a:gridCol w="5539680"/>
                <a:gridCol w="5541840"/>
              </a:tblGrid>
              <a:tr h="3747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Риск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Меры по минимизации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Задержка сроков разработки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Чёткое планирование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Резервное время в графике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Превышение бюджета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Оптимизация затрат на облачные сервисы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Низкая активность пользователей после запуска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Бета‑тестирование с обратной связью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Таргетированная реклама в локальных сообществах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6667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Технические сбои и низкая производительность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Нагрузочное тестирование перед запуском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Мониторинг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Быстрое реагирование техподдержки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7476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Проблемы с безопасностью данных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— Шифрование данных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8000"/>
                      </a:solidFill>
                      <a:prstDash val="solid"/>
                    </a:lnL>
                    <a:lnR w="7200">
                      <a:solidFill>
                        <a:srgbClr val="FF8000"/>
                      </a:solidFill>
                      <a:prstDash val="solid"/>
                    </a:lnR>
                    <a:lnT w="7200">
                      <a:solidFill>
                        <a:srgbClr val="FF8000"/>
                      </a:solidFill>
                      <a:prstDash val="solid"/>
                    </a:lnT>
                    <a:lnB w="72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2" name="Заголовок 9"/>
          <p:cNvSpPr txBox="1"/>
          <p:nvPr/>
        </p:nvSpPr>
        <p:spPr>
          <a:xfrm>
            <a:off x="644400" y="18000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Риски и меры по их минимизации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Прямоугольник 15"/>
          <p:cNvSpPr/>
          <p:nvPr/>
        </p:nvSpPr>
        <p:spPr>
          <a:xfrm>
            <a:off x="0" y="-124560"/>
            <a:ext cx="12268800" cy="174924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dk2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44400" y="15336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Пример работы приложения: продажа детской коляски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55" name=""/>
          <p:cNvPicPr/>
          <p:nvPr/>
        </p:nvPicPr>
        <p:blipFill>
          <a:blip r:embed="rId1"/>
          <a:stretch/>
        </p:blipFill>
        <p:spPr>
          <a:xfrm>
            <a:off x="720000" y="1980000"/>
            <a:ext cx="1990080" cy="420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/>
          <p:cNvPicPr/>
          <p:nvPr/>
        </p:nvPicPr>
        <p:blipFill>
          <a:blip r:embed="rId2"/>
          <a:stretch/>
        </p:blipFill>
        <p:spPr>
          <a:xfrm>
            <a:off x="2890080" y="1980000"/>
            <a:ext cx="1980000" cy="41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"/>
          <p:cNvPicPr/>
          <p:nvPr/>
        </p:nvPicPr>
        <p:blipFill>
          <a:blip r:embed="rId3"/>
          <a:stretch/>
        </p:blipFill>
        <p:spPr>
          <a:xfrm>
            <a:off x="5050080" y="1980000"/>
            <a:ext cx="1980000" cy="41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"/>
          <p:cNvPicPr/>
          <p:nvPr/>
        </p:nvPicPr>
        <p:blipFill>
          <a:blip r:embed="rId4"/>
          <a:stretch/>
        </p:blipFill>
        <p:spPr>
          <a:xfrm>
            <a:off x="7220160" y="1980000"/>
            <a:ext cx="1969920" cy="416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"/>
          <p:cNvPicPr/>
          <p:nvPr/>
        </p:nvPicPr>
        <p:blipFill>
          <a:blip r:embed="rId5"/>
          <a:stretch/>
        </p:blipFill>
        <p:spPr>
          <a:xfrm>
            <a:off x="9370080" y="1980000"/>
            <a:ext cx="1987560" cy="419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00000" y="2700000"/>
            <a:ext cx="105163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rgbClr val="FFFFFF"/>
                </a:solidFill>
                <a:effectLst/>
                <a:uFillTx/>
                <a:latin typeface="Calibri Light"/>
              </a:rPr>
              <a:t>Спасибо за внимание!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Application>LibreOffice/26.2.2.2$Linux_X86_64 LibreOffice_project/42d76a33568d9a37e1fc00c3228d3881e2f8df73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2025-10-01T14:47:28Z</dcterms:created>
  <dc:creator>Лев Мухин</dc:creator>
  <dc:description/>
  <dc:language>ru-RU</dc:language>
  <cp:lastModifiedBy/>
  <dcterms:modified xsi:type="dcterms:W3CDTF">2026-04-16T01:12:49Z</dcterms:modified>
  <cp:revision>38</cp:revision>
  <dc:subject/>
  <dc:title>Вещи в доме напротив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r8>16</vt:r8>
  </property>
</Properties>
</file>