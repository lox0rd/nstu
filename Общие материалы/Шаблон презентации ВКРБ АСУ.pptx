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5088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a0kRDOAF+roGL2p0duim0gKPi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theme" Target="theme/theme1.xml" /><Relationship Id="rId3" Type="http://schemas.openxmlformats.org/officeDocument/2006/relationships/slide" Target="slides/slide1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viewProps" Target="viewProps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presProps" Target="presProps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customschemas.google.com/relationships/presentationmetadata" Target="metadata" /><Relationship Id="rId10" Type="http://schemas.openxmlformats.org/officeDocument/2006/relationships/slide" Target="slides/slide8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559675" cy="106918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12800"/>
            <a:ext cx="7124700" cy="40052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5200" cy="480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/>
          <p:nvPr/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 txBox="1"/>
          <p:nvPr/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n"/>
          <p:cNvSpPr txBox="1"/>
          <p:nvPr/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8187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/>
        </p:nvSpPr>
        <p:spPr>
          <a:xfrm>
            <a:off x="4278312" y="10156825"/>
            <a:ext cx="3278187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b228b592e_0_1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5b228b592e_0_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b228b592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17" name="Google Shape;117;g35b228b592e_0_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/>
        </p:nvSpPr>
        <p:spPr>
          <a:xfrm>
            <a:off x="4278312" y="10156825"/>
            <a:ext cx="3278187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c8e840b3a_0_34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21c8e840b3a_0_3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21c8e840b3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9" name="Google Shape;139;g21c8e840b3a_0_3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1c8e840b3a_0_46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1c8e840b3a_0_4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1c8e840b3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50" name="Google Shape;150;g21c8e840b3a_0_46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b228b592e_0_11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5b228b592e_0_1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5b228b592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61" name="Google Shape;161;g35b228b592e_0_1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b228b592e_0_21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5b228b592e_0_2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5b228b592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72" name="Google Shape;172;g35b228b592e_0_2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b228b592e_0_31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5b228b592e_0_3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5b228b592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83" name="Google Shape;183;g35b228b592e_0_3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b228b592e_0_51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5b228b592e_0_5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5b228b592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94" name="Google Shape;194;g35b228b592e_0_5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b228b592e_0_41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5b228b592e_0_4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5b228b592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05" name="Google Shape;205;g35b228b592e_0_4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b228b592e_0_61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5b228b592e_0_6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5b228b592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16" name="Google Shape;216;g35b228b592e_0_6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b228b592e_0_71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5b228b592e_0_7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5b228b592e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27" name="Google Shape;227;g35b228b592e_0_7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b228b592e_0_126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5b228b592e_0_12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5b228b592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8" name="Google Shape;238;g35b228b592e_0_126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b228b592e_0_181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5b228b592e_0_18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5b228b592e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49" name="Google Shape;249;g35b228b592e_0_18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b228b592e_0_236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5b228b592e_0_23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5b228b592e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60" name="Google Shape;260;g35b228b592e_0_236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b228b592e_0_294:notes"/>
          <p:cNvSpPr txBox="1"/>
          <p:nvPr/>
        </p:nvSpPr>
        <p:spPr>
          <a:xfrm>
            <a:off x="4278312" y="10156825"/>
            <a:ext cx="32781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21590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5b228b592e_0_29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5b228b592e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7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71" name="Google Shape;271;g35b228b592e_0_29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3"/>
          <p:cNvSpPr txBox="1">
            <a:spLocks noGrp="1"/>
          </p:cNvSpPr>
          <p:nvPr>
            <p:ph type="title"/>
          </p:nvPr>
        </p:nvSpPr>
        <p:spPr>
          <a:xfrm rot="5400000">
            <a:off x="5666582" y="1166020"/>
            <a:ext cx="3978275" cy="20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body" idx="1"/>
          </p:nvPr>
        </p:nvSpPr>
        <p:spPr>
          <a:xfrm rot="5400000">
            <a:off x="1477169" y="-815181"/>
            <a:ext cx="3978275" cy="601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4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body" idx="1"/>
          </p:nvPr>
        </p:nvSpPr>
        <p:spPr>
          <a:xfrm rot="5400000">
            <a:off x="3080544" y="-1420019"/>
            <a:ext cx="2979737" cy="822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>
            <a:spLocks noGrp="1"/>
          </p:cNvSpPr>
          <p:nvPr>
            <p:ph type="title"/>
          </p:nvPr>
        </p:nvSpPr>
        <p:spPr>
          <a:xfrm>
            <a:off x="1792288" y="3602038"/>
            <a:ext cx="5486400" cy="42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5"/>
          <p:cNvSpPr>
            <a:spLocks noGrp="1"/>
          </p:cNvSpPr>
          <p:nvPr>
            <p:ph type="pic" idx="2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35"/>
          <p:cNvSpPr txBox="1">
            <a:spLocks noGrp="1"/>
          </p:cNvSpPr>
          <p:nvPr>
            <p:ph type="body" idx="1"/>
          </p:nvPr>
        </p:nvSpPr>
        <p:spPr>
          <a:xfrm>
            <a:off x="1792288" y="4027488"/>
            <a:ext cx="548640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6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9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8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9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body" idx="2"/>
          </p:nvPr>
        </p:nvSpPr>
        <p:spPr>
          <a:xfrm>
            <a:off x="457200" y="1631950"/>
            <a:ext cx="4040188" cy="296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body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39"/>
          <p:cNvSpPr txBox="1">
            <a:spLocks noGrp="1"/>
          </p:cNvSpPr>
          <p:nvPr>
            <p:ph type="body" idx="4"/>
          </p:nvPr>
        </p:nvSpPr>
        <p:spPr>
          <a:xfrm>
            <a:off x="4645025" y="1631950"/>
            <a:ext cx="4041775" cy="296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0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body" idx="1"/>
          </p:nvPr>
        </p:nvSpPr>
        <p:spPr>
          <a:xfrm>
            <a:off x="457200" y="1203325"/>
            <a:ext cx="4037013" cy="297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body" idx="2"/>
          </p:nvPr>
        </p:nvSpPr>
        <p:spPr>
          <a:xfrm>
            <a:off x="4646613" y="1203325"/>
            <a:ext cx="4037012" cy="297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1"/>
          <p:cNvSpPr txBox="1">
            <a:spLocks noGrp="1"/>
          </p:cNvSpPr>
          <p:nvPr>
            <p:ph type="title"/>
          </p:nvPr>
        </p:nvSpPr>
        <p:spPr>
          <a:xfrm>
            <a:off x="722313" y="3306763"/>
            <a:ext cx="7772400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1"/>
          <p:cNvSpPr txBox="1">
            <a:spLocks noGrp="1"/>
          </p:cNvSpPr>
          <p:nvPr>
            <p:ph type="body" idx="1"/>
          </p:nvPr>
        </p:nvSpPr>
        <p:spPr>
          <a:xfrm>
            <a:off x="722313" y="2181225"/>
            <a:ext cx="7772400" cy="112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b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2"/>
          <p:cNvSpPr txBox="1">
            <a:spLocks noGrp="1"/>
          </p:cNvSpPr>
          <p:nvPr>
            <p:ph type="body" idx="1"/>
          </p:nvPr>
        </p:nvSpPr>
        <p:spPr>
          <a:xfrm>
            <a:off x="457200" y="1203325"/>
            <a:ext cx="8226425" cy="297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3"/>
          <p:cNvSpPr txBox="1">
            <a:spLocks noGrp="1"/>
          </p:cNvSpPr>
          <p:nvPr>
            <p:ph type="ctrTitle"/>
          </p:nvPr>
        </p:nvSpPr>
        <p:spPr>
          <a:xfrm>
            <a:off x="685800" y="1598613"/>
            <a:ext cx="7772400" cy="110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3"/>
          <p:cNvSpPr txBox="1">
            <a:spLocks noGrp="1"/>
          </p:cNvSpPr>
          <p:nvPr>
            <p:ph type="subTitle" idx="1"/>
          </p:nvPr>
        </p:nvSpPr>
        <p:spPr>
          <a:xfrm>
            <a:off x="1371600" y="2916238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lvl="0" algn="ctr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 rot="5400000">
            <a:off x="5666582" y="1166020"/>
            <a:ext cx="3978275" cy="20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body" idx="1"/>
          </p:nvPr>
        </p:nvSpPr>
        <p:spPr>
          <a:xfrm rot="5400000">
            <a:off x="1477169" y="-815181"/>
            <a:ext cx="3978275" cy="601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080544" y="-1420019"/>
            <a:ext cx="2979737" cy="822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>
            <a:off x="1792288" y="3602038"/>
            <a:ext cx="5486400" cy="42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>
            <a:spLocks noGrp="1"/>
          </p:cNvSpPr>
          <p:nvPr>
            <p:ph type="pic" idx="2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>
            <a:off x="1792288" y="4027488"/>
            <a:ext cx="548640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9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b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body" idx="2"/>
          </p:nvPr>
        </p:nvSpPr>
        <p:spPr>
          <a:xfrm>
            <a:off x="457200" y="1631950"/>
            <a:ext cx="4040188" cy="296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b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body" idx="4"/>
          </p:nvPr>
        </p:nvSpPr>
        <p:spPr>
          <a:xfrm>
            <a:off x="4645025" y="1631950"/>
            <a:ext cx="4041775" cy="296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body" idx="1"/>
          </p:nvPr>
        </p:nvSpPr>
        <p:spPr>
          <a:xfrm>
            <a:off x="457200" y="1203325"/>
            <a:ext cx="4037013" cy="297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2"/>
          </p:nvPr>
        </p:nvSpPr>
        <p:spPr>
          <a:xfrm>
            <a:off x="4646613" y="1203325"/>
            <a:ext cx="4037012" cy="297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0"/>
          <p:cNvSpPr txBox="1">
            <a:spLocks noGrp="1"/>
          </p:cNvSpPr>
          <p:nvPr>
            <p:ph type="title"/>
          </p:nvPr>
        </p:nvSpPr>
        <p:spPr>
          <a:xfrm>
            <a:off x="722313" y="3306763"/>
            <a:ext cx="7772400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1"/>
          </p:nvPr>
        </p:nvSpPr>
        <p:spPr>
          <a:xfrm>
            <a:off x="722313" y="2181225"/>
            <a:ext cx="7772400" cy="112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b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1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body" idx="1"/>
          </p:nvPr>
        </p:nvSpPr>
        <p:spPr>
          <a:xfrm>
            <a:off x="457200" y="1203325"/>
            <a:ext cx="8226425" cy="297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lvl="0" indent="-228600" algn="l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2"/>
          <p:cNvSpPr txBox="1">
            <a:spLocks noGrp="1"/>
          </p:cNvSpPr>
          <p:nvPr>
            <p:ph type="ctrTitle"/>
          </p:nvPr>
        </p:nvSpPr>
        <p:spPr>
          <a:xfrm>
            <a:off x="685800" y="1598613"/>
            <a:ext cx="7772400" cy="110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2"/>
          <p:cNvSpPr txBox="1">
            <a:spLocks noGrp="1"/>
          </p:cNvSpPr>
          <p:nvPr>
            <p:ph type="subTitle" idx="1"/>
          </p:nvPr>
        </p:nvSpPr>
        <p:spPr>
          <a:xfrm>
            <a:off x="1371600" y="2916238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lvl="0" algn="ctr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1.png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 /><Relationship Id="rId13" Type="http://schemas.openxmlformats.org/officeDocument/2006/relationships/theme" Target="../theme/theme2.xml" /><Relationship Id="rId3" Type="http://schemas.openxmlformats.org/officeDocument/2006/relationships/slideLayout" Target="../slideLayouts/slideLayout15.xml" /><Relationship Id="rId7" Type="http://schemas.openxmlformats.org/officeDocument/2006/relationships/slideLayout" Target="../slideLayouts/slideLayout19.xml" /><Relationship Id="rId12" Type="http://schemas.openxmlformats.org/officeDocument/2006/relationships/slideLayout" Target="../slideLayouts/slideLayout24.xml" /><Relationship Id="rId2" Type="http://schemas.openxmlformats.org/officeDocument/2006/relationships/slideLayout" Target="../slideLayouts/slideLayout14.xml" /><Relationship Id="rId1" Type="http://schemas.openxmlformats.org/officeDocument/2006/relationships/slideLayout" Target="../slideLayouts/slideLayout13.xml" /><Relationship Id="rId6" Type="http://schemas.openxmlformats.org/officeDocument/2006/relationships/slideLayout" Target="../slideLayouts/slideLayout18.xml" /><Relationship Id="rId11" Type="http://schemas.openxmlformats.org/officeDocument/2006/relationships/slideLayout" Target="../slideLayouts/slideLayout23.xml" /><Relationship Id="rId5" Type="http://schemas.openxmlformats.org/officeDocument/2006/relationships/slideLayout" Target="../slideLayouts/slideLayout17.xml" /><Relationship Id="rId10" Type="http://schemas.openxmlformats.org/officeDocument/2006/relationships/slideLayout" Target="../slideLayouts/slideLayout22.xml" /><Relationship Id="rId4" Type="http://schemas.openxmlformats.org/officeDocument/2006/relationships/slideLayout" Target="../slideLayouts/slideLayout16.xml" /><Relationship Id="rId9" Type="http://schemas.openxmlformats.org/officeDocument/2006/relationships/slideLayout" Target="../slideLayouts/slideLayout21.xml" /><Relationship Id="rId14" Type="http://schemas.openxmlformats.org/officeDocument/2006/relationships/image" Target="../media/image1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/>
          <p:nvPr/>
        </p:nvSpPr>
        <p:spPr>
          <a:xfrm>
            <a:off x="0" y="4714875"/>
            <a:ext cx="9142412" cy="427037"/>
          </a:xfrm>
          <a:prstGeom prst="rect">
            <a:avLst/>
          </a:prstGeom>
          <a:solidFill>
            <a:srgbClr val="03491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8"/>
          <p:cNvSpPr txBox="1"/>
          <p:nvPr/>
        </p:nvSpPr>
        <p:spPr>
          <a:xfrm>
            <a:off x="8215312" y="4857750"/>
            <a:ext cx="855662" cy="14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www.nstu.ru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8"/>
          <p:cNvSpPr txBox="1"/>
          <p:nvPr/>
        </p:nvSpPr>
        <p:spPr>
          <a:xfrm>
            <a:off x="0" y="0"/>
            <a:ext cx="9142412" cy="2127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950" y="4835525"/>
            <a:ext cx="463550" cy="1857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8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body" idx="1"/>
          </p:nvPr>
        </p:nvSpPr>
        <p:spPr>
          <a:xfrm>
            <a:off x="457200" y="1203325"/>
            <a:ext cx="8226425" cy="297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425" rIns="0" bIns="0" anchor="t" anchorCtr="0">
            <a:noAutofit/>
          </a:bodyPr>
          <a:lstStyle>
            <a:lvl1pPr marL="457200" marR="0" lvl="0" indent="-228600" algn="l" rtl="0">
              <a:lnSpc>
                <a:spcPct val="93000"/>
              </a:lnSpc>
              <a:spcBef>
                <a:spcPts val="14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3000"/>
              </a:lnSpc>
              <a:spcBef>
                <a:spcPts val="11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3000"/>
              </a:lnSpc>
              <a:spcBef>
                <a:spcPts val="8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3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3000"/>
              </a:lnSpc>
              <a:spcBef>
                <a:spcPts val="300"/>
              </a:spcBef>
              <a:spcAft>
                <a:spcPts val="13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3491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0"/>
          <p:cNvSpPr txBox="1"/>
          <p:nvPr/>
        </p:nvSpPr>
        <p:spPr>
          <a:xfrm>
            <a:off x="8215312" y="4857750"/>
            <a:ext cx="857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www.nstu.ru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0"/>
          <p:cNvSpPr txBox="1"/>
          <p:nvPr/>
        </p:nvSpPr>
        <p:spPr>
          <a:xfrm>
            <a:off x="0" y="0"/>
            <a:ext cx="9144000" cy="21431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2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950" y="4835525"/>
            <a:ext cx="465137" cy="1873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0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8226425" cy="85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1"/>
          </p:nvPr>
        </p:nvSpPr>
        <p:spPr>
          <a:xfrm>
            <a:off x="457200" y="1203325"/>
            <a:ext cx="8226425" cy="297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00" rIns="0" bIns="0" anchor="t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14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75000"/>
              </a:lnSpc>
              <a:spcBef>
                <a:spcPts val="11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75000"/>
              </a:lnSpc>
              <a:spcBef>
                <a:spcPts val="8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75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7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75000"/>
              </a:lnSpc>
              <a:spcBef>
                <a:spcPts val="300"/>
              </a:spcBef>
              <a:spcAft>
                <a:spcPts val="13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3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3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3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3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3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/>
        </p:nvSpPr>
        <p:spPr>
          <a:xfrm>
            <a:off x="5143500" y="0"/>
            <a:ext cx="3998912" cy="212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5143500" y="4714875"/>
            <a:ext cx="3998912" cy="4270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 flipH="1">
            <a:off x="-3175" y="0"/>
            <a:ext cx="5143500" cy="5141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162" y="241300"/>
            <a:ext cx="1606550" cy="6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 txBox="1"/>
          <p:nvPr/>
        </p:nvSpPr>
        <p:spPr>
          <a:xfrm>
            <a:off x="166687" y="974725"/>
            <a:ext cx="326548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Новосибирский государственный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технический университет НЭТИ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 flipH="1">
            <a:off x="2687637" y="0"/>
            <a:ext cx="6450012" cy="5141912"/>
          </a:xfrm>
          <a:prstGeom prst="rect">
            <a:avLst/>
          </a:prstGeom>
          <a:solidFill>
            <a:srgbClr val="03491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2781300" y="161925"/>
            <a:ext cx="6208712" cy="481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Разработка математического и программного обеспечения / информационной системы / программного модуля для …</a:t>
            </a: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Выполнил </a:t>
            </a:r>
            <a:r>
              <a:rPr lang="en-US">
                <a:solidFill>
                  <a:srgbClr val="FFFFFF"/>
                </a:solidFill>
              </a:rPr>
              <a:t>Иванов Иван Иванович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Группа </a:t>
            </a:r>
            <a:r>
              <a:rPr lang="en-US">
                <a:solidFill>
                  <a:srgbClr val="FFFFFF"/>
                </a:solidFill>
              </a:rPr>
              <a:t>АВТ-ХХХ</a:t>
            </a: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Научный руководитель к.т.н., доцент каф</a:t>
            </a:r>
            <a:r>
              <a:rPr lang="en-US">
                <a:solidFill>
                  <a:srgbClr val="FFFFFF"/>
                </a:solidFill>
              </a:rPr>
              <a:t>едры</a:t>
            </a: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АСУ</a:t>
            </a:r>
            <a:r>
              <a:rPr lang="en-US">
                <a:solidFill>
                  <a:srgbClr val="FFFFFF"/>
                </a:solidFill>
              </a:rPr>
              <a:t> Петров</a:t>
            </a: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Н</a:t>
            </a: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.Н.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b228b592e_0_1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120" name="Google Shape;120;g35b228b592e_0_1"/>
          <p:cNvSpPr txBox="1"/>
          <p:nvPr/>
        </p:nvSpPr>
        <p:spPr>
          <a:xfrm>
            <a:off x="247650" y="300037"/>
            <a:ext cx="6532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/>
              <a:t>АНАЛИЗ ПРЕДМЕТНОЙ ОБЛАСТИ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5b228b592e_0_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5b228b592e_0_1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5b228b592e_0_1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Перечислить ключевые понятия предметной области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247650" y="300037"/>
            <a:ext cx="65325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АКТУАЛЬНОСТЬ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8135937" y="225425"/>
            <a:ext cx="1008062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Если приводите здесь какую-то статистику, то желательно сделать инфографику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c8e840b3a_0_34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21c8e840b3a_0_34"/>
          <p:cNvSpPr txBox="1"/>
          <p:nvPr/>
        </p:nvSpPr>
        <p:spPr>
          <a:xfrm>
            <a:off x="247650" y="300037"/>
            <a:ext cx="6532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 РАБОТЫ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21c8e840b3a_0_34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21c8e840b3a_0_34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21c8e840b3a_0_34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Разработка математического и программного обеспечения для </a:t>
            </a:r>
            <a:r>
              <a:rPr lang="en-US" sz="1800">
                <a:solidFill>
                  <a:schemeClr val="dk1"/>
                </a:solidFill>
              </a:rPr>
              <a:t>…</a:t>
            </a:r>
            <a:endParaRPr sz="18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Разработанное программное обеспечение может быть использовано для </a:t>
            </a:r>
            <a:r>
              <a:rPr lang="en-US" sz="1800"/>
              <a:t>…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1c8e840b3a_0_46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153" name="Google Shape;153;g21c8e840b3a_0_46"/>
          <p:cNvSpPr txBox="1"/>
          <p:nvPr/>
        </p:nvSpPr>
        <p:spPr>
          <a:xfrm>
            <a:off x="247650" y="300037"/>
            <a:ext cx="6532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ЗАДАЧИ РАБОТЫ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21c8e840b3a_0_46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1c8e840b3a_0_46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1c8e840b3a_0_46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Анализ </a:t>
            </a:r>
            <a:r>
              <a:rPr lang="en-US" sz="1800">
                <a:solidFill>
                  <a:schemeClr val="dk1"/>
                </a:solidFill>
              </a:rPr>
              <a:t>предметной области (конкретно в какой области?)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1800">
                <a:solidFill>
                  <a:schemeClr val="dk1"/>
                </a:solidFill>
              </a:rPr>
              <a:t>Проектирование архитектуры (системы / программного обеспечения…)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Выбор инструментальных средств для разработки программного обеспечения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Программная реализация </a:t>
            </a:r>
            <a:r>
              <a:rPr lang="en-US" sz="1800">
                <a:solidFill>
                  <a:schemeClr val="dk1"/>
                </a:solidFill>
              </a:rPr>
              <a:t>… (чего?)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Тестирование разработанного программного обеспечения и анализ полученных результатов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b228b592e_0_11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164" name="Google Shape;164;g35b228b592e_0_11"/>
          <p:cNvSpPr txBox="1"/>
          <p:nvPr/>
        </p:nvSpPr>
        <p:spPr>
          <a:xfrm>
            <a:off x="247650" y="300037"/>
            <a:ext cx="6532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/>
              <a:t>ОБЗОР СУЩЕСТВУЮЩИХ ИНСТРУМЕНТОВ, АНАЛОГОВ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5b228b592e_0_1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5b228b592e_0_11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5b228b592e_0_11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Рекомендуется представить в виде таблицы с достоинствами и недостатками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b228b592e_0_21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175" name="Google Shape;175;g35b228b592e_0_21"/>
          <p:cNvSpPr txBox="1"/>
          <p:nvPr/>
        </p:nvSpPr>
        <p:spPr>
          <a:xfrm>
            <a:off x="247650" y="300037"/>
            <a:ext cx="6532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/>
              <a:t>ФУНКЦИОНАЛЬНЫЕ ТРЕБОВАНИЯ К ПО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5b228b592e_0_2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5b228b592e_0_21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5b228b592e_0_21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Можно представить в пунктами, но не зачитывать в докладе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b228b592e_0_31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186" name="Google Shape;186;g35b228b592e_0_31"/>
          <p:cNvSpPr txBox="1"/>
          <p:nvPr/>
        </p:nvSpPr>
        <p:spPr>
          <a:xfrm>
            <a:off x="247650" y="300037"/>
            <a:ext cx="6532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/>
              <a:t>ВЫБОР ПРОГРАММНЫХ СРЕДСТВ РЕАЛИЗАЦИИ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5b228b592e_0_3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5b228b592e_0_31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5b228b592e_0_31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Можно представить в пунктами, но не зачитывать в докладе. 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Здесь не нужно никаких подробных таблиц с баллами и достоинствами и недостатками.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b228b592e_0_51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197" name="Google Shape;197;g35b228b592e_0_51"/>
          <p:cNvSpPr txBox="1"/>
          <p:nvPr/>
        </p:nvSpPr>
        <p:spPr>
          <a:xfrm>
            <a:off x="247650" y="300037"/>
            <a:ext cx="6532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/>
              <a:t>ПРИНЦИП РАБОТЫ ПРОГРАММНОГО ОБЕСПЕЧЕНИЯ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5b228b592e_0_5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5b228b592e_0_51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5b228b592e_0_51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Опционально. Может быть представлен в виде схемы или пунктами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b228b592e_0_41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208" name="Google Shape;208;g35b228b592e_0_41"/>
          <p:cNvSpPr txBox="1"/>
          <p:nvPr/>
        </p:nvSpPr>
        <p:spPr>
          <a:xfrm>
            <a:off x="247650" y="300037"/>
            <a:ext cx="6532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/>
              <a:t>АРХИТЕКТУРА ПРОГРАММНОГО ОБЕСПЕЧЕНИЯ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5b228b592e_0_4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5b228b592e_0_41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5b228b592e_0_41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1-2 слайда. Должно быть представлено БС, физической моделью БД и/или UML-диаграммами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b228b592e_0_61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219" name="Google Shape;219;g35b228b592e_0_61"/>
          <p:cNvSpPr txBox="1"/>
          <p:nvPr/>
        </p:nvSpPr>
        <p:spPr>
          <a:xfrm>
            <a:off x="247650" y="300037"/>
            <a:ext cx="6532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/>
              <a:t>ТЕСТИРОВАНИЕ ПРОГРАММНОГО ОБЕСПЕЧЕНИЯ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5b228b592e_0_6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5b228b592e_0_61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5b228b592e_0_61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2-6 слайдов со скриншотами или видео с контрольными примерами работы разработанного ПО / ИС…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b228b592e_0_71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230" name="Google Shape;230;g35b228b592e_0_71"/>
          <p:cNvSpPr txBox="1"/>
          <p:nvPr/>
        </p:nvSpPr>
        <p:spPr>
          <a:xfrm>
            <a:off x="247650" y="334962"/>
            <a:ext cx="75024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5b228b592e_0_7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5b228b592e_0_71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Полученные результаты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Проведен анализ подходов в области </a:t>
            </a:r>
            <a:r>
              <a:rPr lang="en-US" sz="1800">
                <a:solidFill>
                  <a:schemeClr val="dk1"/>
                </a:solidFill>
              </a:rPr>
              <a:t>…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Выполнена программная реализация</a:t>
            </a:r>
            <a:r>
              <a:rPr lang="en-US" sz="1800">
                <a:solidFill>
                  <a:schemeClr val="dk1"/>
                </a:solidFill>
              </a:rPr>
              <a:t>…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5b228b592e_0_71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1">
                <a:solidFill>
                  <a:srgbClr val="003300"/>
                </a:solidFill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b228b592e_0_126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241" name="Google Shape;241;g35b228b592e_0_126"/>
          <p:cNvSpPr txBox="1"/>
          <p:nvPr/>
        </p:nvSpPr>
        <p:spPr>
          <a:xfrm>
            <a:off x="247650" y="334962"/>
            <a:ext cx="75024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ОГРАНИЧЕНИЯ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5b228b592e_0_126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5b228b592e_0_126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Опционально. Может быть объединено с предыдущим слайдом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5b228b592e_0_126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1">
                <a:solidFill>
                  <a:srgbClr val="003300"/>
                </a:solidFill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b228b592e_0_181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252" name="Google Shape;252;g35b228b592e_0_181"/>
          <p:cNvSpPr txBox="1"/>
          <p:nvPr/>
        </p:nvSpPr>
        <p:spPr>
          <a:xfrm>
            <a:off x="247650" y="334962"/>
            <a:ext cx="75024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ПЕРСПЕКТИВЫ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5b228b592e_0_18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5b228b592e_0_181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Опционально. Может быть объединено с предыдущими слайдами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5b228b592e_0_181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b228b592e_0_236"/>
          <p:cNvSpPr txBox="1"/>
          <p:nvPr/>
        </p:nvSpPr>
        <p:spPr>
          <a:xfrm>
            <a:off x="336550" y="53975"/>
            <a:ext cx="87867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Тема ВКРБ</a:t>
            </a:r>
            <a:endParaRPr sz="900" b="1">
              <a:solidFill>
                <a:schemeClr val="dk1"/>
              </a:solidFill>
            </a:endParaRPr>
          </a:p>
        </p:txBody>
      </p:sp>
      <p:sp>
        <p:nvSpPr>
          <p:cNvPr id="263" name="Google Shape;263;g35b228b592e_0_236"/>
          <p:cNvSpPr txBox="1"/>
          <p:nvPr/>
        </p:nvSpPr>
        <p:spPr>
          <a:xfrm>
            <a:off x="247650" y="334962"/>
            <a:ext cx="75024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СПИСОК НАУЧНЫХ ПУБЛИКАЦИЙ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5b228b592e_0_236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5b228b592e_0_236"/>
          <p:cNvSpPr txBox="1"/>
          <p:nvPr/>
        </p:nvSpPr>
        <p:spPr>
          <a:xfrm>
            <a:off x="8135937" y="225425"/>
            <a:ext cx="1008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3300"/>
                </a:solidFill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5b228b592e_0_236"/>
          <p:cNvSpPr txBox="1"/>
          <p:nvPr/>
        </p:nvSpPr>
        <p:spPr>
          <a:xfrm>
            <a:off x="357187" y="641350"/>
            <a:ext cx="84201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Опционально. Только при наличии научных публикаций или свидетельств на ЭВМ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b228b592e_0_294"/>
          <p:cNvSpPr txBox="1"/>
          <p:nvPr/>
        </p:nvSpPr>
        <p:spPr>
          <a:xfrm>
            <a:off x="5143500" y="0"/>
            <a:ext cx="3999000" cy="2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5b228b592e_0_294"/>
          <p:cNvSpPr txBox="1"/>
          <p:nvPr/>
        </p:nvSpPr>
        <p:spPr>
          <a:xfrm>
            <a:off x="5143500" y="4714875"/>
            <a:ext cx="3999000" cy="42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5b228b592e_0_294"/>
          <p:cNvSpPr txBox="1"/>
          <p:nvPr/>
        </p:nvSpPr>
        <p:spPr>
          <a:xfrm flipH="1">
            <a:off x="-3175" y="0"/>
            <a:ext cx="5143500" cy="51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g35b228b592e_0_2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162" y="241300"/>
            <a:ext cx="1606550" cy="6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5b228b592e_0_294"/>
          <p:cNvSpPr txBox="1"/>
          <p:nvPr/>
        </p:nvSpPr>
        <p:spPr>
          <a:xfrm>
            <a:off x="166687" y="974725"/>
            <a:ext cx="3265500" cy="6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Новосибирский государственный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технический университет НЭТИ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5b228b592e_0_294"/>
          <p:cNvSpPr txBox="1"/>
          <p:nvPr/>
        </p:nvSpPr>
        <p:spPr>
          <a:xfrm flipH="1">
            <a:off x="2687649" y="0"/>
            <a:ext cx="6450000" cy="5142000"/>
          </a:xfrm>
          <a:prstGeom prst="rect">
            <a:avLst/>
          </a:prstGeom>
          <a:solidFill>
            <a:srgbClr val="03491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5b228b592e_0_294"/>
          <p:cNvSpPr txBox="1"/>
          <p:nvPr/>
        </p:nvSpPr>
        <p:spPr>
          <a:xfrm>
            <a:off x="2781300" y="161925"/>
            <a:ext cx="6208800" cy="48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Разработка математического и программного обеспечения / информационной системы / программного модуля для …</a:t>
            </a: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Выполнил </a:t>
            </a:r>
            <a:r>
              <a:rPr lang="en-US">
                <a:solidFill>
                  <a:srgbClr val="FFFFFF"/>
                </a:solidFill>
              </a:rPr>
              <a:t>Иванов Иван Иванович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Группа </a:t>
            </a:r>
            <a:r>
              <a:rPr lang="en-US">
                <a:solidFill>
                  <a:srgbClr val="FFFFFF"/>
                </a:solidFill>
              </a:rPr>
              <a:t>АВТ-ХХХ</a:t>
            </a: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Научный руководитель, к.т.н., доц., доц. каф. АСУ</a:t>
            </a:r>
            <a:r>
              <a:rPr lang="en-US">
                <a:solidFill>
                  <a:srgbClr val="FFFFFF"/>
                </a:solidFill>
              </a:rPr>
              <a:t>	Петров</a:t>
            </a: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Н</a:t>
            </a: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.Н.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Произвольный</PresentationFormat>
  <Slides>16</Slides>
  <Notes>16</Notes>
  <HiddenSlides>0</HiddenSlide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18" baseType="lpstr">
      <vt:lpstr>1_Тема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каеп увкаеп</cp:lastModifiedBy>
  <cp:revision>1</cp:revision>
  <dcterms:created xsi:type="dcterms:W3CDTF">2019-09-27T01:18:31Z</dcterms:created>
  <dcterms:modified xsi:type="dcterms:W3CDTF">2025-12-12T15:13:53Z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PresentationFormat">
    <vt:lpwstr>Экран (16:9)</vt:lpwstr>
  </property>
  <property fmtid="{D5CDD505-2E9C-101B-9397-08002B2CF9AE}" pid="4" name="Slides">
    <vt:r8>7</vt:r8>
  </property>
</Properties>
</file>